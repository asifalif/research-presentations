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eCFEgl3M7kfzsRnEtBuiQBnYu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Alt">
  <p:cSld name="Cover Al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2"/>
          <p:cNvPicPr preferRelativeResize="0"/>
          <p:nvPr/>
        </p:nvPicPr>
        <p:blipFill rotWithShape="1">
          <a:blip r:embed="rId2">
            <a:alphaModFix amt="20000"/>
          </a:blip>
          <a:srcRect b="3253" l="7292" r="32245" t="-1533"/>
          <a:stretch/>
        </p:blipFill>
        <p:spPr>
          <a:xfrm rot="5400000">
            <a:off x="2144482" y="-2144484"/>
            <a:ext cx="6858000" cy="1114696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2"/>
          <p:cNvSpPr/>
          <p:nvPr/>
        </p:nvSpPr>
        <p:spPr>
          <a:xfrm>
            <a:off x="-3007" y="0"/>
            <a:ext cx="10821900" cy="6858000"/>
          </a:xfrm>
          <a:prstGeom prst="snip1Rect">
            <a:avLst>
              <a:gd fmla="val 16667" name="adj"/>
            </a:avLst>
          </a:prstGeom>
          <a:solidFill>
            <a:schemeClr val="lt1">
              <a:alpha val="50980"/>
            </a:schemeClr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" name="Google Shape;87;p22"/>
          <p:cNvGrpSpPr/>
          <p:nvPr/>
        </p:nvGrpSpPr>
        <p:grpSpPr>
          <a:xfrm>
            <a:off x="9652405" y="0"/>
            <a:ext cx="2614812" cy="6857830"/>
            <a:chOff x="7239485" y="0"/>
            <a:chExt cx="1961158" cy="5143501"/>
          </a:xfrm>
        </p:grpSpPr>
        <p:sp>
          <p:nvSpPr>
            <p:cNvPr id="88" name="Google Shape;88;p22"/>
            <p:cNvSpPr/>
            <p:nvPr/>
          </p:nvSpPr>
          <p:spPr>
            <a:xfrm flipH="1">
              <a:off x="8037843" y="1"/>
              <a:ext cx="1162800" cy="5143500"/>
            </a:xfrm>
            <a:prstGeom prst="snip1Rect">
              <a:avLst>
                <a:gd fmla="val 50000" name="adj"/>
              </a:avLst>
            </a:prstGeom>
            <a:solidFill>
              <a:srgbClr val="004578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2"/>
            <p:cNvSpPr/>
            <p:nvPr/>
          </p:nvSpPr>
          <p:spPr>
            <a:xfrm flipH="1" rot="-5400000">
              <a:off x="7239485" y="0"/>
              <a:ext cx="1959000" cy="1959000"/>
            </a:xfrm>
            <a:prstGeom prst="rtTriangle">
              <a:avLst/>
            </a:prstGeom>
            <a:solidFill>
              <a:srgbClr val="004578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0" name="Google Shape;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6187" y="266816"/>
            <a:ext cx="1242180" cy="7016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2"/>
          <p:cNvSpPr txBox="1"/>
          <p:nvPr>
            <p:ph idx="1" type="subTitle"/>
          </p:nvPr>
        </p:nvSpPr>
        <p:spPr>
          <a:xfrm>
            <a:off x="836444" y="4755908"/>
            <a:ext cx="9198300" cy="1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500"/>
              <a:buNone/>
              <a:defRPr b="1" i="1" sz="3500">
                <a:solidFill>
                  <a:srgbClr val="01B4E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2" name="Google Shape;92;p22"/>
          <p:cNvSpPr txBox="1"/>
          <p:nvPr>
            <p:ph idx="2" type="body"/>
          </p:nvPr>
        </p:nvSpPr>
        <p:spPr>
          <a:xfrm>
            <a:off x="838200" y="5961225"/>
            <a:ext cx="91983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i="1" sz="2400">
                <a:solidFill>
                  <a:srgbClr val="0073AE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-"/>
              <a:defRPr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3pPr>
            <a:lvl4pPr indent="-3810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  <a:defRPr/>
            </a:lvl4pPr>
            <a:lvl5pPr indent="-3810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o"/>
              <a:defRPr/>
            </a:lvl5pPr>
            <a:lvl6pPr indent="-3810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93" name="Google Shape;93;p22"/>
          <p:cNvSpPr/>
          <p:nvPr/>
        </p:nvSpPr>
        <p:spPr>
          <a:xfrm>
            <a:off x="-1" y="0"/>
            <a:ext cx="172800" cy="6858000"/>
          </a:xfrm>
          <a:prstGeom prst="rect">
            <a:avLst/>
          </a:prstGeom>
          <a:solidFill>
            <a:srgbClr val="004578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10733316" y="6407833"/>
            <a:ext cx="1458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A1"/>
              </a:buClr>
              <a:buSzPts val="1100"/>
              <a:buFont typeface="Merriweather Sans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www.ieee.org</a:t>
            </a:r>
            <a:endParaRPr b="1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2"/>
          <p:cNvSpPr/>
          <p:nvPr>
            <p:ph idx="3" type="pic"/>
          </p:nvPr>
        </p:nvSpPr>
        <p:spPr>
          <a:xfrm>
            <a:off x="880664" y="1516912"/>
            <a:ext cx="6879300" cy="210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1223600" y="1729778"/>
            <a:ext cx="9383700" cy="14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3800">
                <a:latin typeface="Times New Roman"/>
                <a:ea typeface="Times New Roman"/>
                <a:cs typeface="Times New Roman"/>
                <a:sym typeface="Times New Roman"/>
              </a:rPr>
              <a:t>Grover’s Algorithm for AI: A Quantum Approach to Unstructured Search</a:t>
            </a:r>
            <a:endParaRPr b="1" sz="4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640025" y="3583707"/>
            <a:ext cx="9383700" cy="286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Asif Alif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EECS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September 1, 2026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Mountain West AI &amp; HPC Summit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13" y="1623"/>
            <a:ext cx="3186775" cy="133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 sz="2000"/>
              <a:t>‹#›</a:t>
            </a:fld>
            <a:endParaRPr sz="2000"/>
          </a:p>
        </p:txBody>
      </p:sp>
      <p:sp>
        <p:nvSpPr>
          <p:cNvPr id="109" name="Google Shape;109;p2"/>
          <p:cNvSpPr/>
          <p:nvPr/>
        </p:nvSpPr>
        <p:spPr>
          <a:xfrm>
            <a:off x="615725" y="1165200"/>
            <a:ext cx="7284000" cy="505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AI tasks require searching through many examples when the desired example is not known in advance.</a:t>
            </a:r>
            <a:endParaRPr b="0" baseline="3000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example: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a misclassified example.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a similar image.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a fraudulent transaction.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of this talk: Finding a misclassified example.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Grover’s algorithm is designed for unstructured search.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N examples, finding a misclassified example using unstructured search requires: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Classical search: O(N) queries.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Grover search: O(√N) queries.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2022765" y="-13858"/>
            <a:ext cx="10169100" cy="124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0" y="0"/>
            <a:ext cx="12192000" cy="969900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AI Problem Are We Tackling and Why Grover?</a:t>
            </a:r>
            <a:endParaRPr b="1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2" title="AI problem.drawio (2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2125" y="1266280"/>
            <a:ext cx="3755125" cy="481860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1102905" y="6416508"/>
            <a:ext cx="98961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L. K. Grover, “A fast quantum mechanical algorithm for database search,” in Proceedings of the twenty-eighth annual ACM symposium on Theory of computing, 1996, pp. 212–219.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 sz="2000"/>
              <a:t>‹#›</a:t>
            </a:fld>
            <a:endParaRPr sz="2000"/>
          </a:p>
        </p:txBody>
      </p:sp>
      <p:sp>
        <p:nvSpPr>
          <p:cNvPr id="119" name="Google Shape;119;p3"/>
          <p:cNvSpPr/>
          <p:nvPr/>
        </p:nvSpPr>
        <p:spPr>
          <a:xfrm>
            <a:off x="615725" y="1113425"/>
            <a:ext cx="6934800" cy="292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an unstructured search over N items.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a special quantum operation to represent all items equally.</a:t>
            </a:r>
            <a:endParaRPr b="0" baseline="3000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 quantum checking function to mark the desired item.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another quantum operation to increase the probability of selecting the marked item.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the marking and probability increasing steps O(√N) times.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 to obtain the desired item with high probability.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2022765" y="-13858"/>
            <a:ext cx="10169236" cy="12469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0" y="0"/>
            <a:ext cx="12192000" cy="890400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Grover’s Algorithm Works</a:t>
            </a:r>
            <a:endParaRPr b="1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" name="Google Shape;122;p3" title="Grover new working flow.drawio (5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2900" y="4112850"/>
            <a:ext cx="8055649" cy="22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 title="Grover Probability.drawio (4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0000" y="1196700"/>
            <a:ext cx="4336676" cy="2743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 txBox="1"/>
          <p:nvPr/>
        </p:nvSpPr>
        <p:spPr>
          <a:xfrm>
            <a:off x="1173089" y="6436561"/>
            <a:ext cx="98961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L. K. Grover, “A fast quantum mechanical algorithm for database search,” in Proceedings of the twenty-eighth annual ACM symposium on Theory of computing, 1996, pp. 212–219.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 sz="2000"/>
              <a:t>‹#›</a:t>
            </a:fld>
            <a:endParaRPr sz="2000"/>
          </a:p>
        </p:txBody>
      </p:sp>
      <p:sp>
        <p:nvSpPr>
          <p:cNvPr id="130" name="Google Shape;130;p4"/>
          <p:cNvSpPr/>
          <p:nvPr/>
        </p:nvSpPr>
        <p:spPr>
          <a:xfrm>
            <a:off x="2022765" y="-13858"/>
            <a:ext cx="10169100" cy="124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0" y="0"/>
            <a:ext cx="12192000" cy="969900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Grover Search Example: N=16</a:t>
            </a:r>
            <a:endParaRPr b="1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p4" title="Copy of Grover example final.drawi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275" y="1385350"/>
            <a:ext cx="10420526" cy="460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 sz="2000"/>
              <a:t>‹#›</a:t>
            </a:fld>
            <a:endParaRPr sz="2000"/>
          </a:p>
        </p:txBody>
      </p:sp>
      <p:sp>
        <p:nvSpPr>
          <p:cNvPr id="138" name="Google Shape;138;p5"/>
          <p:cNvSpPr/>
          <p:nvPr/>
        </p:nvSpPr>
        <p:spPr>
          <a:xfrm>
            <a:off x="466050" y="1165200"/>
            <a:ext cx="8657700" cy="395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an unstructured search over N labeled examples.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classifier predicts a label for each example.</a:t>
            </a:r>
            <a:endParaRPr b="0" baseline="3000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the predicted label with the known true label.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misclassified example satisfies: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Label ≠ True Label.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this condition to mark a misclassified example during Grover search.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 to identify the misclassified example with high probability.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Reuse the identified example during training to help improve the classifier.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2022765" y="-13858"/>
            <a:ext cx="10169100" cy="124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0" y="0"/>
            <a:ext cx="12192000" cy="969900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Grover Algorithm for AI: Finding Misclassified Examples</a:t>
            </a:r>
            <a:endParaRPr b="1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 sz="2000"/>
              <a:t>‹#›</a:t>
            </a:fld>
            <a:endParaRPr sz="2000"/>
          </a:p>
        </p:txBody>
      </p:sp>
      <p:sp>
        <p:nvSpPr>
          <p:cNvPr id="146" name="Google Shape;146;p6"/>
          <p:cNvSpPr/>
          <p:nvPr/>
        </p:nvSpPr>
        <p:spPr>
          <a:xfrm>
            <a:off x="2022765" y="-13858"/>
            <a:ext cx="10169100" cy="124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0" y="0"/>
            <a:ext cx="12192000" cy="969900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Grover-Assisted AI: Working Flow Diagram</a:t>
            </a:r>
            <a:endParaRPr b="1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8" name="Google Shape;148;p6" title="new Ai.drawio (3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0375" y="1232950"/>
            <a:ext cx="7429499" cy="5320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 sz="2000"/>
              <a:t>‹#›</a:t>
            </a:fld>
            <a:endParaRPr sz="2000"/>
          </a:p>
        </p:txBody>
      </p:sp>
      <p:sp>
        <p:nvSpPr>
          <p:cNvPr id="154" name="Google Shape;154;p7"/>
          <p:cNvSpPr/>
          <p:nvPr/>
        </p:nvSpPr>
        <p:spPr>
          <a:xfrm>
            <a:off x="466050" y="1165200"/>
            <a:ext cx="7320000" cy="352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a quantum computer to run Grover’s algorithm.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an efficient quantum checking function for the search condition.</a:t>
            </a:r>
            <a:endParaRPr b="0" baseline="3000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O(√N) represents query complexity, not total runtime; actual runtime depends on the cost of the required quantum operations and may not always be faster than classical search.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022765" y="-13858"/>
            <a:ext cx="10169100" cy="124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0" y="0"/>
            <a:ext cx="12192000" cy="969900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" name="Google Shape;157;p7" title="Limitations.drawi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8858" y="1928000"/>
            <a:ext cx="2136402" cy="207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2022765" y="-13858"/>
            <a:ext cx="10169100" cy="124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8" title="Thank you.drawio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3788" y="1019692"/>
            <a:ext cx="10039173" cy="4818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 sz="2000"/>
              <a:t>‹#›</a:t>
            </a:fld>
            <a:endParaRPr sz="2000"/>
          </a:p>
        </p:txBody>
      </p:sp>
      <p:sp>
        <p:nvSpPr>
          <p:cNvPr id="169" name="Google Shape;169;p9"/>
          <p:cNvSpPr/>
          <p:nvPr/>
        </p:nvSpPr>
        <p:spPr>
          <a:xfrm>
            <a:off x="2022765" y="-13858"/>
            <a:ext cx="10169100" cy="124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0" y="0"/>
            <a:ext cx="12192000" cy="969900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Calculation of Grover’s Algorithm for N=16</a:t>
            </a:r>
            <a:endParaRPr b="1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" name="Google Shape;1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175" y="1253817"/>
            <a:ext cx="8973650" cy="481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 txBox="1"/>
          <p:nvPr/>
        </p:nvSpPr>
        <p:spPr>
          <a:xfrm>
            <a:off x="1173089" y="6416508"/>
            <a:ext cx="98961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L. K. Grover, “A fast quantum mechanical algorithm for database search,” in Proceedings of the twenty-eighth annual ACM symposium on Theory of computing, 1996, pp. 212–219.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